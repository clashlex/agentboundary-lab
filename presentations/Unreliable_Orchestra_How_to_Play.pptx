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A BEGINNER'S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01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1234440"/>
            <a:ext cx="448056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75757"/>
                </a:solidFill>
                <a:latin typeface="Arial"/>
              </a:rPr>
              <a:t>A COOPERATIVE MUSIC PUZZLE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1645920"/>
            <a:ext cx="5943600" cy="7223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191919"/>
                </a:solidFill>
                <a:latin typeface="Bahnschrift"/>
              </a:rPr>
              <a:t>UNRELIABLE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377440"/>
            <a:ext cx="5943600" cy="7315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9274CC"/>
                </a:solidFill>
                <a:latin typeface="Bahnschrift"/>
              </a:rPr>
              <a:t>ORCHESTRA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429000"/>
            <a:ext cx="5120640" cy="10972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Three people. Three clues.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One missing song.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864608"/>
            <a:ext cx="5074920" cy="54864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Learn the rules in five minutes. No musical training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" y="5632704"/>
            <a:ext cx="1170432" cy="347472"/>
          </a:xfrm>
          <a:prstGeom prst="rect">
            <a:avLst/>
          </a:prstGeom>
          <a:solidFill>
            <a:srgbClr val="D5FA58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5632704"/>
            <a:ext cx="1024128" cy="347472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3 PLAYERS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29968" y="5632704"/>
            <a:ext cx="10241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632704"/>
            <a:ext cx="877824" cy="347472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8 SLOTS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2968" y="5632704"/>
            <a:ext cx="1883664" cy="347472"/>
          </a:xfrm>
          <a:prstGeom prst="rect">
            <a:avLst/>
          </a:prstGeom>
          <a:solidFill>
            <a:srgbClr val="DDD0F8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5632704"/>
            <a:ext cx="1737360" cy="347472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1 SHARED ANSWER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79" y="1408176"/>
            <a:ext cx="4745736" cy="4489704"/>
          </a:xfrm>
          <a:prstGeom prst="rect">
            <a:avLst/>
          </a:prstGeom>
          <a:solidFill>
            <a:srgbClr val="D5F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1316736"/>
            <a:ext cx="4745736" cy="4489704"/>
          </a:xfrm>
          <a:prstGeom prst="rect">
            <a:avLst/>
          </a:prstGeom>
          <a:solidFill>
            <a:srgbClr val="DDD0F8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1609344"/>
            <a:ext cx="338328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THE MISSING COMPOSITION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0568" y="2185416"/>
            <a:ext cx="4032504" cy="16459"/>
          </a:xfrm>
          <a:prstGeom prst="rect">
            <a:avLst/>
          </a:prstGeom>
          <a:solidFill>
            <a:srgbClr val="9B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30568" y="2578608"/>
            <a:ext cx="4032504" cy="16459"/>
          </a:xfrm>
          <a:prstGeom prst="rect">
            <a:avLst/>
          </a:prstGeom>
          <a:solidFill>
            <a:srgbClr val="9B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30568" y="2971800"/>
            <a:ext cx="4032504" cy="16459"/>
          </a:xfrm>
          <a:prstGeom prst="rect">
            <a:avLst/>
          </a:prstGeom>
          <a:solidFill>
            <a:srgbClr val="9B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30568" y="3364992"/>
            <a:ext cx="4032504" cy="16459"/>
          </a:xfrm>
          <a:prstGeom prst="rect">
            <a:avLst/>
          </a:prstGeom>
          <a:solidFill>
            <a:srgbClr val="9B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97496" y="2761488"/>
            <a:ext cx="265176" cy="1920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35240" y="2249424"/>
            <a:ext cx="22860" cy="63093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04504" y="2350008"/>
            <a:ext cx="265176" cy="1920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42248" y="1837943"/>
            <a:ext cx="22860" cy="63093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21240" y="3200400"/>
            <a:ext cx="265176" cy="1920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58984" y="2688336"/>
            <a:ext cx="22860" cy="63093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62872" y="2276856"/>
            <a:ext cx="704088" cy="704088"/>
          </a:xfrm>
          <a:prstGeom prst="ellipse">
            <a:avLst/>
          </a:prstGeom>
          <a:solidFill>
            <a:srgbClr val="D5FA58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0304" y="2295144"/>
            <a:ext cx="640080" cy="603504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2396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80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20" y="4654296"/>
            <a:ext cx="5029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78440" y="4844491"/>
            <a:ext cx="411480" cy="33649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02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The goal: find the exact eight-slot song.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A hidden song is chosen for each round. Your team reconstructs it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12264"/>
            <a:ext cx="28346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THE HIDDEN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72259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4555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17979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8835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2998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5294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8718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9574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3737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6032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9456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0313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4476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6772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0196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1052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5215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17511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0935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1791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5954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58250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1674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12530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16693" y="2414016"/>
            <a:ext cx="1340739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8989" y="2523744"/>
            <a:ext cx="1176147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2413" y="2789651"/>
            <a:ext cx="1249299" cy="664585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3269" y="3602736"/>
            <a:ext cx="1267587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UNANSWERED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242816"/>
            <a:ext cx="3502152" cy="1307592"/>
          </a:xfrm>
          <a:prstGeom prst="rect">
            <a:avLst/>
          </a:prstGeom>
          <a:solidFill>
            <a:srgbClr val="F3EDFC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4453128"/>
            <a:ext cx="3118104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TARGET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4764024"/>
            <a:ext cx="3154680" cy="6309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The original eight-slot song. It stays hidden until the reveal.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4242816"/>
            <a:ext cx="3502152" cy="1307592"/>
          </a:xfrm>
          <a:prstGeom prst="rect">
            <a:avLst/>
          </a:prstGeom>
          <a:solidFill>
            <a:srgbClr val="FFFFFF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7992" y="4453128"/>
            <a:ext cx="3118104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7992" y="4764024"/>
            <a:ext cx="3154680" cy="6309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The answer everyone can see. The Conductor fills its eight slots.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4242816"/>
            <a:ext cx="3502152" cy="1307592"/>
          </a:xfrm>
          <a:prstGeom prst="rect">
            <a:avLst/>
          </a:prstGeom>
          <a:solidFill>
            <a:srgbClr val="E8F7B5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9871" y="4453128"/>
            <a:ext cx="3118104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ROUND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9871" y="4764024"/>
            <a:ext cx="3154680" cy="6309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One puzzle, from the ready check through scoring and reveal.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5824728"/>
            <a:ext cx="1069848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1919"/>
                </a:solidFill>
                <a:latin typeface="Bahnschrift"/>
              </a:rPr>
              <a:t>A perfect answer matches every note AND every rest in its exact position.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03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The music words are simple.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You only need five pitches, silence, and eight numbered positions.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48840"/>
            <a:ext cx="3502152" cy="2560320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377440"/>
            <a:ext cx="301752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NOTE / PITCH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779776"/>
            <a:ext cx="777240" cy="8046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703320"/>
            <a:ext cx="3017520" cy="8321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A note makes sound. Its pitch is how high or low it sounds. This game uses C, D, E, G and 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148840"/>
            <a:ext cx="3502152" cy="2560320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377440"/>
            <a:ext cx="301752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779776"/>
            <a:ext cx="777240" cy="8046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703320"/>
            <a:ext cx="3017520" cy="8321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A rest is an intentional silent beat. It still counts as a filled slot and can earn a point.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2148840"/>
            <a:ext cx="3502152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2377440"/>
            <a:ext cx="301752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UNANSWERED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779776"/>
            <a:ext cx="777240" cy="8046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703320"/>
            <a:ext cx="3017520" cy="8321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A question mark means the team has not chosen a note or rest yet. You cannot submit 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47488"/>
            <a:ext cx="10725912" cy="896112"/>
          </a:xfrm>
          <a:prstGeom prst="rect">
            <a:avLst/>
          </a:prstGeom>
          <a:solidFill>
            <a:srgbClr val="DDD0F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285232"/>
            <a:ext cx="941832" cy="23774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Bahnschrift"/>
              </a:rPr>
              <a:t>SLOT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39512"/>
            <a:ext cx="9326880" cy="4754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9"/>
                </a:solidFill>
                <a:latin typeface="Arial"/>
              </a:rPr>
              <a:t>One numbered beat in the song. At 100 BPM (beats per minute), a beat takes 0.6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04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Get three people into one room.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Everyone opens the same game link. A room code brings the team 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31720"/>
            <a:ext cx="2496312" cy="2331720"/>
          </a:xfrm>
          <a:prstGeom prst="rect">
            <a:avLst/>
          </a:prstGeom>
          <a:solidFill>
            <a:srgbClr val="DDD0F8"/>
          </a:solidFill>
          <a:ln w="14604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505456"/>
            <a:ext cx="612648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1919"/>
                </a:solidFill>
                <a:latin typeface="Bahnschrift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136392"/>
            <a:ext cx="207568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CREATE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65576"/>
            <a:ext cx="2112264" cy="9875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One player creates a room and becomes the host.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3200400"/>
            <a:ext cx="219456" cy="3474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331720"/>
            <a:ext cx="2496312" cy="2331720"/>
          </a:xfrm>
          <a:prstGeom prst="rect">
            <a:avLst/>
          </a:prstGeom>
          <a:solidFill>
            <a:srgbClr val="FFFFFF"/>
          </a:solidFill>
          <a:ln w="14604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2505456"/>
            <a:ext cx="612648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1919"/>
                </a:solidFill>
                <a:latin typeface="Bahnschrift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3136392"/>
            <a:ext cx="207568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465576"/>
            <a:ext cx="2112264" cy="9875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The host sends the six-character room code to two friends.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200400"/>
            <a:ext cx="219456" cy="3474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31720"/>
            <a:ext cx="2496312" cy="2331720"/>
          </a:xfrm>
          <a:prstGeom prst="rect">
            <a:avLst/>
          </a:prstGeom>
          <a:solidFill>
            <a:srgbClr val="FFD9C7"/>
          </a:solidFill>
          <a:ln w="14604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505456"/>
            <a:ext cx="612648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1919"/>
                </a:solidFill>
                <a:latin typeface="Bahnschrift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136392"/>
            <a:ext cx="207568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JOIN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465576"/>
            <a:ext cx="2112264" cy="9875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Each friend enters that code to join the same room.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3200400"/>
            <a:ext cx="219456" cy="3474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331720"/>
            <a:ext cx="2496312" cy="2331720"/>
          </a:xfrm>
          <a:prstGeom prst="rect">
            <a:avLst/>
          </a:prstGeom>
          <a:solidFill>
            <a:srgbClr val="D5FA58"/>
          </a:solidFill>
          <a:ln w="14604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8" y="2505456"/>
            <a:ext cx="612648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1919"/>
                </a:solidFill>
                <a:latin typeface="Bahnschrift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3136392"/>
            <a:ext cx="207568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3465576"/>
            <a:ext cx="2112264" cy="9875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All three mark ready. The host starts the round.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65776"/>
            <a:ext cx="10725912" cy="813816"/>
          </a:xfrm>
          <a:prstGeom prst="rect">
            <a:avLst/>
          </a:prstGeom>
          <a:solidFill>
            <a:srgbClr val="FFFFFF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340096"/>
            <a:ext cx="10131552" cy="2743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1919"/>
                </a:solidFill>
                <a:latin typeface="Bahnschrift"/>
              </a:rPr>
              <a:t>ROOM = shared game space     HOST = person who created it     READY = safe to begin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108192"/>
            <a:ext cx="10689336" cy="22860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757"/>
                </a:solidFill>
                <a:latin typeface="Arial"/>
              </a:rPr>
              <a:t>Three devices work remotely; three separate browser tabs work for a local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Each role holds a different piece.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No one can solve the complete song alone.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76272"/>
            <a:ext cx="3502152" cy="3547872"/>
          </a:xfrm>
          <a:prstGeom prst="rect">
            <a:avLst/>
          </a:prstGeom>
          <a:solidFill>
            <a:srgbClr val="DDD0F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423160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Arial"/>
              </a:rPr>
              <a:t>CONDUCTOR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2834640"/>
            <a:ext cx="3063240" cy="1097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090672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PRIVATE CLUE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364992"/>
            <a:ext cx="2999232" cy="89611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1919"/>
                </a:solidFill>
                <a:latin typeface="Bahnschrift"/>
              </a:rPr>
              <a:t>Knows how many steps to move pitches backward.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517136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TEAM JOB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782312"/>
            <a:ext cx="2971800" cy="7498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Arial"/>
              </a:rPr>
              <a:t>Places notes and rests on the shared board, then submits.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176272"/>
            <a:ext cx="3502152" cy="3547872"/>
          </a:xfrm>
          <a:prstGeom prst="rect">
            <a:avLst/>
          </a:prstGeom>
          <a:solidFill>
            <a:srgbClr val="D5FA5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2423160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Arial"/>
              </a:rPr>
              <a:t>RHYTHM KEEPER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44568" y="2834640"/>
            <a:ext cx="3063240" cy="1097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090672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PRIVATE CLUE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364992"/>
            <a:ext cx="2999232" cy="89611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1919"/>
                </a:solidFill>
                <a:latin typeface="Bahnschrift"/>
              </a:rPr>
              <a:t>Sees which slots contain a note and which are rests.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517136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TEAM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782312"/>
            <a:ext cx="2971800" cy="7498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Arial"/>
              </a:rPr>
              <a:t>Tells the team where the sounding notes belong.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176272"/>
            <a:ext cx="3502152" cy="3547872"/>
          </a:xfrm>
          <a:prstGeom prst="rect">
            <a:avLst/>
          </a:prstGeom>
          <a:solidFill>
            <a:srgbClr val="FFD9C7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2423160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Arial"/>
              </a:rPr>
              <a:t>MELODIST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8" y="2834640"/>
            <a:ext cx="3063240" cy="1097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090672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PRIVATE CLUE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364992"/>
            <a:ext cx="2999232" cy="89611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1919"/>
                </a:solidFill>
                <a:latin typeface="Bahnschrift"/>
              </a:rPr>
              <a:t>Sees the shifted pitches in playing order.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517136"/>
            <a:ext cx="30632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TEAM JOB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782312"/>
            <a:ext cx="2971800" cy="7498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Arial"/>
              </a:rPr>
              <a:t>Shares the note sequence; rest positions are hidden.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025896"/>
            <a:ext cx="10789920" cy="2743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757"/>
                </a:solidFill>
                <a:latin typeface="Arial"/>
              </a:rPr>
              <a:t>The host is Conductor. The first joiner is Rhythm Keeper; the second is Melodist.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What does a pitch shift mean?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Imagine the five allowed notes arranged in a loop.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2221992"/>
            <a:ext cx="905256" cy="905256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359152"/>
            <a:ext cx="905256" cy="603504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2478024"/>
            <a:ext cx="384048" cy="31089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3218688" y="2221992"/>
            <a:ext cx="905256" cy="905256"/>
          </a:xfrm>
          <a:prstGeom prst="ellipse">
            <a:avLst/>
          </a:prstGeom>
          <a:solidFill>
            <a:srgbClr val="DDD0F8"/>
          </a:solidFill>
          <a:ln w="1714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2359152"/>
            <a:ext cx="905256" cy="603504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478024"/>
            <a:ext cx="384048" cy="31089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5385816" y="2221992"/>
            <a:ext cx="905256" cy="905256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5816" y="2359152"/>
            <a:ext cx="905256" cy="603504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478024"/>
            <a:ext cx="384048" cy="31089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7552944" y="2221992"/>
            <a:ext cx="905256" cy="905256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359152"/>
            <a:ext cx="905256" cy="603504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1919"/>
                </a:solidFill>
                <a:latin typeface="Bahnschrift"/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2478024"/>
            <a:ext cx="384048" cy="31089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9720072" y="2221992"/>
            <a:ext cx="905256" cy="905256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72" y="2359152"/>
            <a:ext cx="905256" cy="603504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4504" y="3355848"/>
            <a:ext cx="2514600" cy="3474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274CC"/>
                </a:solidFill>
                <a:latin typeface="Bahnschrift"/>
              </a:rPr>
              <a:t>then back to C 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" y="3886200"/>
            <a:ext cx="5074920" cy="144475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4096512"/>
            <a:ext cx="182880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SHIFTED 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4416552"/>
            <a:ext cx="777240" cy="5760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8528" y="4544568"/>
            <a:ext cx="2258568" cy="2926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9"/>
                </a:solidFill>
                <a:latin typeface="Arial"/>
              </a:rPr>
              <a:t>1 step backward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4462272"/>
            <a:ext cx="1243584" cy="42976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91919"/>
                </a:solidFill>
                <a:latin typeface="Bahnschrift"/>
              </a:rPr>
              <a:t>→  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886200"/>
            <a:ext cx="5358384" cy="1444752"/>
          </a:xfrm>
          <a:prstGeom prst="rect">
            <a:avLst/>
          </a:prstGeom>
          <a:solidFill>
            <a:srgbClr val="F3EDFC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105656"/>
            <a:ext cx="434340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USE THE CLUE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43984"/>
            <a:ext cx="4864608" cy="6309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Arial"/>
              </a:rPr>
              <a:t>The Melodist sees the shifted note. The Conductor knows the number of steps to undo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788152"/>
            <a:ext cx="10652760" cy="34747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A shift changes pitch, not the notes' playing order. The Conductor's number is 1–4.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07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See the three clues for one song.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This teaching example uses a one-step shift. The hidden answer is still covered.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76272"/>
            <a:ext cx="3502152" cy="345643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404872"/>
            <a:ext cx="2907792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RHYTHM KEEPER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2734056"/>
            <a:ext cx="2990088" cy="3931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919"/>
                </a:solidFill>
                <a:latin typeface="Bahnschrift"/>
              </a:rPr>
              <a:t>Note / rest 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" y="3419856"/>
            <a:ext cx="386334" cy="1069848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8166" y="3419856"/>
            <a:ext cx="386334" cy="1069848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0462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3886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500" y="3419856"/>
            <a:ext cx="386334" cy="1069848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96796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0220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0834" y="3419856"/>
            <a:ext cx="386334" cy="1069848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83130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6554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419856"/>
            <a:ext cx="386334" cy="1069848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9463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32887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3502" y="3419856"/>
            <a:ext cx="386334" cy="1069848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55798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19222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59836" y="3419856"/>
            <a:ext cx="386334" cy="1069848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2132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05556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46170" y="3419856"/>
            <a:ext cx="386334" cy="1069848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28465" y="3529584"/>
            <a:ext cx="221742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91889" y="3698016"/>
            <a:ext cx="294894" cy="49213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4754880"/>
            <a:ext cx="2999232" cy="61264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N = note; — = rest.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Pitches remain unknown.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176272"/>
            <a:ext cx="3502152" cy="3456432"/>
          </a:xfrm>
          <a:prstGeom prst="rect">
            <a:avLst/>
          </a:prstGeom>
          <a:solidFill>
            <a:srgbClr val="FFF1E9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2404872"/>
            <a:ext cx="289864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MELODIST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2734056"/>
            <a:ext cx="2980944" cy="3931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919"/>
                </a:solidFill>
                <a:latin typeface="Bahnschrift"/>
              </a:rPr>
              <a:t>Shifted notes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3712" y="3447288"/>
            <a:ext cx="513892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3483864"/>
            <a:ext cx="513892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95620" y="3447288"/>
            <a:ext cx="513892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95620" y="3483864"/>
            <a:ext cx="513892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1919"/>
                </a:solidFill>
                <a:latin typeface="Bahnschrift"/>
              </a:rPr>
              <a:t>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37529" y="3447288"/>
            <a:ext cx="513892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37529" y="3483864"/>
            <a:ext cx="513892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9438" y="3447288"/>
            <a:ext cx="513892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9438" y="3483864"/>
            <a:ext cx="513892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21347" y="3447288"/>
            <a:ext cx="513892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21347" y="3483864"/>
            <a:ext cx="513892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3712" y="4754880"/>
            <a:ext cx="2999232" cy="61264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1st to 5th sounding note.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No rest positions shown.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2176272"/>
            <a:ext cx="3502152" cy="3456432"/>
          </a:xfrm>
          <a:prstGeom prst="rect">
            <a:avLst/>
          </a:prstGeom>
          <a:solidFill>
            <a:srgbClr val="F3EDFC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5592" y="2404872"/>
            <a:ext cx="289864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CONDUCTOR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5592" y="2734056"/>
            <a:ext cx="2990088" cy="3931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919"/>
                </a:solidFill>
                <a:latin typeface="Bahnschrift"/>
              </a:rPr>
              <a:t>Undo the shift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3456432"/>
            <a:ext cx="1097280" cy="1069848"/>
          </a:xfrm>
          <a:prstGeom prst="rect">
            <a:avLst/>
          </a:prstGeom>
          <a:solidFill>
            <a:srgbClr val="DDD0F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83879" y="3511296"/>
            <a:ext cx="1097280" cy="91440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191919"/>
                </a:solidFill>
                <a:latin typeface="Bahnschrift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4040" y="3648456"/>
            <a:ext cx="1673352" cy="7589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1919"/>
                </a:solidFill>
                <a:latin typeface="Bahnschrift"/>
              </a:rPr>
              <a:t>step backward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1919"/>
                </a:solidFill>
                <a:latin typeface="Bahnschrift"/>
              </a:rPr>
              <a:t>for each note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65592" y="4754880"/>
            <a:ext cx="2990088" cy="61264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Cannot see the original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pitches or rests.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" y="5943600"/>
            <a:ext cx="10597896" cy="32004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1919"/>
                </a:solidFill>
                <a:latin typeface="Bahnschrift"/>
              </a:rPr>
              <a:t>They must tell one another what they know.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Combine the clues to solve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First decode the notes. Then place them in the note slots.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03120"/>
            <a:ext cx="402336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MELODIST'S SHIFTED PITCHES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459736"/>
            <a:ext cx="930859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8683" y="2459736"/>
            <a:ext cx="930859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8683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67558" y="2459736"/>
            <a:ext cx="930859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7558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6433" y="2459736"/>
            <a:ext cx="930859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26433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5308" y="2459736"/>
            <a:ext cx="930859" cy="658368"/>
          </a:xfrm>
          <a:prstGeom prst="rect">
            <a:avLst/>
          </a:prstGeom>
          <a:solidFill>
            <a:srgbClr val="FFD9C7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633472"/>
            <a:ext cx="274320" cy="2743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274CC"/>
                </a:solidFill>
                <a:latin typeface="Bahnschrift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3218688"/>
            <a:ext cx="4498848" cy="31089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274CC"/>
                </a:solidFill>
                <a:latin typeface="Bahnschrift"/>
              </a:rPr>
              <a:t>UNDO EACH PITCH BY ONE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2103120"/>
            <a:ext cx="301752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ORIGINAL PITCHES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2784" y="2459736"/>
            <a:ext cx="930859" cy="658368"/>
          </a:xfrm>
          <a:prstGeom prst="rect">
            <a:avLst/>
          </a:prstGeom>
          <a:solidFill>
            <a:srgbClr val="DDD0F8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1659" y="2459736"/>
            <a:ext cx="930859" cy="658368"/>
          </a:xfrm>
          <a:prstGeom prst="rect">
            <a:avLst/>
          </a:prstGeom>
          <a:solidFill>
            <a:srgbClr val="DDD0F8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1659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0534" y="2459736"/>
            <a:ext cx="930859" cy="658368"/>
          </a:xfrm>
          <a:prstGeom prst="rect">
            <a:avLst/>
          </a:prstGeom>
          <a:solidFill>
            <a:srgbClr val="DDD0F8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0534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49409" y="2459736"/>
            <a:ext cx="930859" cy="658368"/>
          </a:xfrm>
          <a:prstGeom prst="rect">
            <a:avLst/>
          </a:prstGeom>
          <a:solidFill>
            <a:srgbClr val="DDD0F8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9409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08284" y="2459736"/>
            <a:ext cx="930859" cy="658368"/>
          </a:xfrm>
          <a:prstGeom prst="rect">
            <a:avLst/>
          </a:prstGeom>
          <a:solidFill>
            <a:srgbClr val="DDD0F8"/>
          </a:solidFill>
          <a:ln w="1397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08284" y="2496312"/>
            <a:ext cx="930859" cy="548640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3575304"/>
            <a:ext cx="10707624" cy="16459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3858768"/>
            <a:ext cx="996696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PLACE THE FIVE ORIGINAL PITCHES IN THE FIVE NOTE POSITIONS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224528"/>
            <a:ext cx="1336167" cy="119786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NOTE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85975" y="4224528"/>
            <a:ext cx="1336167" cy="1197864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68271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1695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2551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REST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2141" y="4224528"/>
            <a:ext cx="1336167" cy="119786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4437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67861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8718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NOTE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8309" y="4224528"/>
            <a:ext cx="1336167" cy="119786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40605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4029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94885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NOTE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4476" y="4224528"/>
            <a:ext cx="1336167" cy="1197864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6772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0196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1052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REST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30642" y="4224528"/>
            <a:ext cx="1336167" cy="119786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2938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76363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67218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NOTE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66810" y="4224528"/>
            <a:ext cx="1336167" cy="119786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49106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12530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03386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NOTE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02977" y="4224528"/>
            <a:ext cx="1336167" cy="1197864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85273" y="4334256"/>
            <a:ext cx="1171575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8697" y="4535972"/>
            <a:ext cx="1244726" cy="551017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39553" y="5166359"/>
            <a:ext cx="1263014" cy="1645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575757"/>
                </a:solidFill>
                <a:latin typeface="Arial"/>
              </a:rPr>
              <a:t>REST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" y="5760720"/>
            <a:ext cx="10661904" cy="3931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Slots 2, 5 and 8 are rests. The note sequence stays C → E → G → A → 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Talk, place, and listen.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The puzzle is cooperative: clue buttons and chat help the Conductor fill the 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57984"/>
            <a:ext cx="5111496" cy="3401568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395728"/>
            <a:ext cx="4425696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THE CONVERSATION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" y="2788920"/>
            <a:ext cx="4654296" cy="585216"/>
          </a:xfrm>
          <a:prstGeom prst="rect">
            <a:avLst/>
          </a:prstGeom>
          <a:solidFill>
            <a:srgbClr val="E8F7B5"/>
          </a:solidFill>
          <a:ln w="10160">
            <a:solidFill>
              <a:srgbClr val="CF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880360"/>
            <a:ext cx="11612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91919"/>
                </a:solidFill>
                <a:latin typeface="Arial"/>
              </a:rPr>
              <a:t>RHYTHM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063239"/>
            <a:ext cx="4270248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Arial"/>
              </a:rPr>
              <a:t>Slots 2, 5 and 8 are rests.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" y="3502152"/>
            <a:ext cx="4654296" cy="585216"/>
          </a:xfrm>
          <a:prstGeom prst="rect">
            <a:avLst/>
          </a:prstGeom>
          <a:solidFill>
            <a:srgbClr val="FFF1E9"/>
          </a:solidFill>
          <a:ln w="10160">
            <a:solidFill>
              <a:srgbClr val="CF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593592"/>
            <a:ext cx="11612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91919"/>
                </a:solidFill>
                <a:latin typeface="Arial"/>
              </a:rPr>
              <a:t>MELODIST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776472"/>
            <a:ext cx="4270248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Arial"/>
              </a:rPr>
              <a:t>Shifted notes: D, G, A, C, 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" y="4215384"/>
            <a:ext cx="4654296" cy="585216"/>
          </a:xfrm>
          <a:prstGeom prst="rect">
            <a:avLst/>
          </a:prstGeom>
          <a:solidFill>
            <a:srgbClr val="F3EDFC"/>
          </a:solidFill>
          <a:ln w="10160">
            <a:solidFill>
              <a:srgbClr val="CF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306824"/>
            <a:ext cx="11612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91919"/>
                </a:solidFill>
                <a:latin typeface="Arial"/>
              </a:rPr>
              <a:t>CONDUCTOR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489704"/>
            <a:ext cx="4270248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Arial"/>
              </a:rPr>
              <a:t>One step back. I'll fill the 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056632"/>
            <a:ext cx="4617720" cy="38404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757"/>
                </a:solidFill>
                <a:latin typeface="Arial"/>
              </a:rPr>
              <a:t>Share buttons send one role-specific clue; chat allows questions.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157984"/>
            <a:ext cx="5367528" cy="3401568"/>
          </a:xfrm>
          <a:prstGeom prst="rect">
            <a:avLst/>
          </a:prstGeom>
          <a:solidFill>
            <a:srgbClr val="F3EDFC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2395728"/>
            <a:ext cx="4425696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THE SHARED 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216" y="2843784"/>
            <a:ext cx="616077" cy="106070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16293" y="2843784"/>
            <a:ext cx="616077" cy="1060704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8589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2013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32369" y="2843784"/>
            <a:ext cx="616077" cy="106070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4665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8090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48446" y="2843784"/>
            <a:ext cx="616077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0742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4167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64524" y="2843784"/>
            <a:ext cx="616077" cy="1060704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46819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10244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80601" y="2843784"/>
            <a:ext cx="616077" cy="106070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2897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26321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96678" y="2843784"/>
            <a:ext cx="616077" cy="1060704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78974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2398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12755" y="2843784"/>
            <a:ext cx="616077" cy="1060704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5051" y="2953512"/>
            <a:ext cx="45148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5757"/>
                </a:solidFill>
                <a:latin typeface="Arial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8475" y="3119567"/>
            <a:ext cx="524637" cy="487923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4169663"/>
            <a:ext cx="4855464" cy="6400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1919"/>
                </a:solidFill>
                <a:latin typeface="Bahnschrift"/>
              </a:rPr>
              <a:t>Only the Conductor can select a slot and choose a pitch, Rest, or Clear.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0216" y="5001768"/>
            <a:ext cx="4754880" cy="33832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757"/>
                </a:solidFill>
                <a:latin typeface="Arial"/>
              </a:rPr>
              <a:t>All three players see board updates immediately.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788152"/>
            <a:ext cx="10725912" cy="438912"/>
          </a:xfrm>
          <a:prstGeom prst="rect">
            <a:avLst/>
          </a:prstGeom>
          <a:solidFill>
            <a:srgbClr val="D5FA58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5870448"/>
            <a:ext cx="10259568" cy="23774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Arial"/>
              </a:rPr>
              <a:t>PLAY = hear the current board locally in your browser. No voice call is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Finish, confirm, then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The song is checked only after the Conductor confirms the complete answer.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57984"/>
            <a:ext cx="3447288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2377440"/>
            <a:ext cx="3090672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01  FILL ALL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734056"/>
            <a:ext cx="3054096" cy="7498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Arial"/>
              </a:rPr>
              <a:t>Every slot needs C, D, E, G, A or an explicit Rest.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157984"/>
            <a:ext cx="3447288" cy="1508760"/>
          </a:xfrm>
          <a:prstGeom prst="rect">
            <a:avLst/>
          </a:prstGeom>
          <a:solidFill>
            <a:srgbClr val="DDD0F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2377440"/>
            <a:ext cx="3090672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02  SUBMIT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734056"/>
            <a:ext cx="3054096" cy="7498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Arial"/>
              </a:rPr>
              <a:t>All players see the proposed board before it is locked.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2157984"/>
            <a:ext cx="3447288" cy="1508760"/>
          </a:xfrm>
          <a:prstGeom prst="rect">
            <a:avLst/>
          </a:prstGeom>
          <a:solidFill>
            <a:srgbClr val="D5FA5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377440"/>
            <a:ext cx="3090672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03  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734056"/>
            <a:ext cx="3054096" cy="7498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Arial"/>
              </a:rPr>
              <a:t>The Conductor confirms; the server compares it to the target.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" y="3986784"/>
            <a:ext cx="10698480" cy="16459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15968"/>
            <a:ext cx="2103120" cy="54864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1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0632" y="4434840"/>
            <a:ext cx="6163056" cy="35661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919"/>
                </a:solidFill>
                <a:latin typeface="Bahnschrift"/>
              </a:rPr>
              <a:t>for each pitch or Rest in the correct slot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4197096"/>
            <a:ext cx="1920240" cy="804672"/>
          </a:xfrm>
          <a:prstGeom prst="rect">
            <a:avLst/>
          </a:prstGeom>
          <a:solidFill>
            <a:srgbClr val="D5FA58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4361688"/>
            <a:ext cx="1737360" cy="38404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919"/>
                </a:solidFill>
                <a:latin typeface="Bahnschrift"/>
              </a:rPr>
              <a:t>MAX 8/8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285232"/>
            <a:ext cx="10597896" cy="35661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75757"/>
                </a:solidFill>
                <a:latin typeface="Arial"/>
              </a:rPr>
              <a:t>Wrong pitch, misplaced note, or missing rest = 0 for that slot.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769864"/>
            <a:ext cx="10597896" cy="35661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75757"/>
                </a:solidFill>
                <a:latin typeface="Arial"/>
              </a:rPr>
              <a:t>A question mark is not a Rest; unanswered boards cannot be submitted.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11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The reveal shows what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Everyone sees the submitted song, the true target, and an exact comparison.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94560"/>
            <a:ext cx="2084831" cy="2212848"/>
          </a:xfrm>
          <a:prstGeom prst="rect">
            <a:avLst/>
          </a:prstGeom>
          <a:solidFill>
            <a:srgbClr val="DDD0F8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478024"/>
            <a:ext cx="164592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EXAMPLE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2743200"/>
            <a:ext cx="1133856" cy="107899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191919"/>
                </a:solidFill>
                <a:latin typeface="Bahnschrift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3291840"/>
            <a:ext cx="713232" cy="4114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91919"/>
                </a:solidFill>
                <a:latin typeface="Bahnschrift"/>
              </a:rPr>
              <a:t>/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977639"/>
            <a:ext cx="1618488" cy="33832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757"/>
                </a:solidFill>
                <a:latin typeface="Arial"/>
              </a:rPr>
              <a:t>One slot was wrong.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249424"/>
            <a:ext cx="24871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YOUR 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587752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0238" y="2587752"/>
            <a:ext cx="1035558" cy="804672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5958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5796" y="2587752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1516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1354" y="2587752"/>
            <a:ext cx="1035558" cy="804672"/>
          </a:xfrm>
          <a:prstGeom prst="rect">
            <a:avLst/>
          </a:prstGeom>
          <a:solidFill>
            <a:srgbClr val="FFE4DC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7074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587752"/>
            <a:ext cx="1035558" cy="804672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2470" y="2587752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8190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68028" y="2587752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3748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03586" y="2587752"/>
            <a:ext cx="1035558" cy="804672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9306" y="2796966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3584448"/>
            <a:ext cx="24871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CORRECT 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922776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90238" y="3922776"/>
            <a:ext cx="1035558" cy="804672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35958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25796" y="3922776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71516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1354" y="3922776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7074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96912" y="3922776"/>
            <a:ext cx="1035558" cy="804672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2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32470" y="3922776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78190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68028" y="3922776"/>
            <a:ext cx="1035558" cy="804672"/>
          </a:xfrm>
          <a:prstGeom prst="rect">
            <a:avLst/>
          </a:prstGeom>
          <a:solidFill>
            <a:srgbClr val="E8F7B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3748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03586" y="3922776"/>
            <a:ext cx="1035558" cy="804672"/>
          </a:xfrm>
          <a:prstGeom prst="rect">
            <a:avLst/>
          </a:prstGeom>
          <a:solidFill>
            <a:srgbClr val="EDEDEB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49306" y="4131990"/>
            <a:ext cx="944118" cy="370149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1919"/>
                </a:solidFill>
                <a:latin typeface="Bahnschrift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72784" y="4901184"/>
            <a:ext cx="1005840" cy="310896"/>
          </a:xfrm>
          <a:prstGeom prst="rect">
            <a:avLst/>
          </a:prstGeom>
          <a:solidFill>
            <a:srgbClr val="FFE4DC"/>
          </a:solidFill>
          <a:ln w="1016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24927" y="4901184"/>
            <a:ext cx="2788920" cy="32004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1919"/>
                </a:solidFill>
                <a:latin typeface="Bahnschrift"/>
              </a:rPr>
              <a:t>Slot 4: A should be 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541264"/>
            <a:ext cx="2322576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5541264"/>
            <a:ext cx="2176272" cy="429768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PLAY YOUR VERSION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91256" y="5541264"/>
            <a:ext cx="1746504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5541264"/>
            <a:ext cx="1600200" cy="429768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PLAY TARGET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43016" y="5541264"/>
            <a:ext cx="2377440" cy="429768"/>
          </a:xfrm>
          <a:prstGeom prst="rect">
            <a:avLst/>
          </a:prstGeom>
          <a:solidFill>
            <a:srgbClr val="DDD0F8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16168" y="5541264"/>
            <a:ext cx="2231136" cy="429768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REPLAY SAME PUZZLE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57616" y="5541264"/>
            <a:ext cx="1947672" cy="429768"/>
          </a:xfrm>
          <a:prstGeom prst="rect">
            <a:avLst/>
          </a:prstGeom>
          <a:solidFill>
            <a:srgbClr val="D5FA58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0768" y="5541264"/>
            <a:ext cx="1801368" cy="429768"/>
          </a:xfrm>
          <a:prstGeom prst="rect">
            <a:avLst/>
          </a:prstGeom>
          <a:noFill/>
        </p:spPr>
        <p:txBody>
          <a:bodyPr wrap="square" lIns="0" rIns="0" tIns="9144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1919"/>
                </a:solidFill>
                <a:latin typeface="Arial"/>
              </a:rPr>
              <a:t>NEW PUZZLE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6126480"/>
            <a:ext cx="10597896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757"/>
                </a:solidFill>
                <a:latin typeface="Arial"/>
              </a:rPr>
              <a:t>The host chooses the next round; everyone readies again.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6072" y="246888"/>
            <a:ext cx="384048" cy="384048"/>
          </a:xfrm>
          <a:prstGeom prst="ellipse">
            <a:avLst/>
          </a:prstGeom>
          <a:solidFill>
            <a:srgbClr val="F8F7F3"/>
          </a:solidFill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" y="402336"/>
            <a:ext cx="34747" cy="12801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47472"/>
            <a:ext cx="34747" cy="23774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7532" y="384048"/>
            <a:ext cx="34747" cy="1645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"/>
            <a:ext cx="1920240" cy="42062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UNRELIABLE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1919"/>
                </a:solidFill>
                <a:latin typeface="Bahnschrift"/>
              </a:rPr>
              <a:t>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47504" y="338328"/>
            <a:ext cx="1572768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1919"/>
                </a:solidFill>
                <a:latin typeface="Arial"/>
              </a:rPr>
              <a:t>HOW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01752"/>
            <a:ext cx="640080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75757"/>
                </a:solidFill>
                <a:latin typeface="Arial"/>
              </a:rPr>
              <a:t>12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758952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6510528"/>
            <a:ext cx="11036808" cy="10972"/>
          </a:xfrm>
          <a:prstGeom prst="rect">
            <a:avLst/>
          </a:prstGeom>
          <a:solidFill>
            <a:srgbClr val="CF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83680"/>
            <a:ext cx="2834640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THREE SIGNALS. ONE SONG.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583680"/>
            <a:ext cx="1389888" cy="14630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75757"/>
                </a:solidFill>
                <a:latin typeface="Arial"/>
              </a:rPr>
              <a:t>MADE FOR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69264"/>
            <a:ext cx="1092708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1919"/>
                </a:solidFill>
                <a:latin typeface="Bahnschrift"/>
              </a:rPr>
              <a:t>Ready to play?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10698480" cy="49377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757"/>
                </a:solidFill>
                <a:latin typeface="Arial"/>
              </a:rPr>
              <a:t>A quick safety net, plus an easy way to learn before inviting friends.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267712"/>
            <a:ext cx="5084064" cy="2944368"/>
          </a:xfrm>
          <a:prstGeom prst="rect">
            <a:avLst/>
          </a:prstGeom>
          <a:solidFill>
            <a:srgbClr val="DD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176272"/>
            <a:ext cx="5084064" cy="2944368"/>
          </a:xfrm>
          <a:prstGeom prst="rect">
            <a:avLst/>
          </a:prstGeom>
          <a:solidFill>
            <a:srgbClr val="F3EDFC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432304"/>
            <a:ext cx="4507992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IF A PLAYER DISCONNECTS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2843784"/>
            <a:ext cx="4535424" cy="51206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91919"/>
                </a:solidFill>
                <a:latin typeface="Bahnschrift"/>
              </a:rPr>
              <a:t>The room pauses for 60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3493008"/>
            <a:ext cx="4535424" cy="8595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Reopen the game in the same browser to reclaim your role, clue and board progress.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572000"/>
            <a:ext cx="4480560" cy="38404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Arial"/>
              </a:rPr>
              <a:t>If time runs out, the host can end the round.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2267712"/>
            <a:ext cx="5303520" cy="2944368"/>
          </a:xfrm>
          <a:prstGeom prst="rect">
            <a:avLst/>
          </a:prstGeom>
          <a:solidFill>
            <a:srgbClr val="D5F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176272"/>
            <a:ext cx="5303520" cy="2944368"/>
          </a:xfrm>
          <a:prstGeom prst="rect">
            <a:avLst/>
          </a:prstGeom>
          <a:solidFill>
            <a:srgbClr val="E8F7B5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432304"/>
            <a:ext cx="4663440" cy="21945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91919"/>
                </a:solidFill>
                <a:latin typeface="Arial"/>
              </a:rPr>
              <a:t>PRACTICE ALONE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843784"/>
            <a:ext cx="4645152" cy="51206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91919"/>
                </a:solidFill>
                <a:latin typeface="Bahnschrift"/>
              </a:rPr>
              <a:t>Choose Try Demo.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493008"/>
            <a:ext cx="4663440" cy="8595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75757"/>
                </a:solidFill>
                <a:latin typeface="Arial"/>
              </a:rPr>
              <a:t>Switch between the three roles, inspect their clues and finish a practice puzzle.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572000"/>
            <a:ext cx="4645152" cy="38404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Arial"/>
              </a:rPr>
              <a:t>Then create a live room and invite two players.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05272"/>
            <a:ext cx="10716768" cy="55778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5724144"/>
            <a:ext cx="10094976" cy="2743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5FA58"/>
                </a:solidFill>
                <a:latin typeface="Bahnschrift"/>
              </a:rPr>
              <a:t>THREE CLUES  →  ONE SHARED BOARD  →  EIGHT EXACT SLOTS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Unreliable Orchestra — How to Play</dc:title>
  <dc:subject>Beginner guide to the three-player cooperative music puzzle</dc:subject>
  <dc:creator>Unreliable Orchestra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